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173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0"/>
          </a:xfrm>
          <a:prstGeom prst="rect">
            <a:avLst/>
          </a:prstGeom>
          <a:solidFill>
            <a:srgbClr val="1D4ED8"/>
          </a:solidFill>
          <a:ln w="12700">
            <a:solidFill>
              <a:srgbClr val="1D4ED8"/>
            </a:solidFill>
            <a:prstDash val="solid"/>
          </a:ln>
        </p:spPr>
      </p:sp>
      <p:sp>
        <p:nvSpPr>
          <p:cNvPr id="3" name="Text 1"/>
          <p:cNvSpPr/>
          <p:nvPr/>
        </p:nvSpPr>
        <p:spPr>
          <a:xfrm>
            <a:off x="530352" y="1572768"/>
            <a:ext cx="6949440" cy="658368"/>
          </a:xfrm>
          <a:prstGeom prst="rect">
            <a:avLst/>
          </a:prstGeom>
          <a:noFill/>
          <a:ln/>
        </p:spPr>
        <p:txBody>
          <a:bodyPr wrap="square"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TAPXORA LIMS APP</a:t>
            </a:r>
            <a:endParaRPr lang="en-US" sz="2800" dirty="0"/>
          </a:p>
        </p:txBody>
      </p:sp>
      <p:sp>
        <p:nvSpPr>
          <p:cNvPr id="4" name="Text 2"/>
          <p:cNvSpPr/>
          <p:nvPr/>
        </p:nvSpPr>
        <p:spPr>
          <a:xfrm>
            <a:off x="530352" y="2267712"/>
            <a:ext cx="6949440" cy="347472"/>
          </a:xfrm>
          <a:prstGeom prst="rect">
            <a:avLst/>
          </a:prstGeom>
          <a:noFill/>
          <a:ln/>
        </p:spPr>
        <p:txBody>
          <a:bodyPr wrap="square" rtlCol="0" anchor="ctr"/>
          <a:lstStyle/>
          <a:p>
            <a:pPr marL="0" indent="0">
              <a:buNone/>
            </a:pPr>
            <a:r>
              <a:rPr lang="en-US" sz="1600" dirty="0">
                <a:solidFill>
                  <a:srgbClr val="475569"/>
                </a:solidFill>
                <a:latin typeface="Aptos" pitchFamily="34" charset="0"/>
                <a:ea typeface="Aptos" pitchFamily="34" charset="-122"/>
                <a:cs typeface="Aptos" pitchFamily="34" charset="-120"/>
              </a:rPr>
              <a:t>Detailed Training Guide and Demo Deck</a:t>
            </a:r>
            <a:endParaRPr lang="en-US" sz="1600" dirty="0"/>
          </a:p>
        </p:txBody>
      </p:sp>
      <p:sp>
        <p:nvSpPr>
          <p:cNvPr id="5" name="Text 3"/>
          <p:cNvSpPr/>
          <p:nvPr/>
        </p:nvSpPr>
        <p:spPr>
          <a:xfrm>
            <a:off x="530352" y="2798064"/>
            <a:ext cx="7955280" cy="640080"/>
          </a:xfrm>
          <a:prstGeom prst="rect">
            <a:avLst/>
          </a:prstGeom>
          <a:noFill/>
          <a:ln/>
        </p:spPr>
        <p:txBody>
          <a:bodyPr wrap="square" rtlCol="0" anchor="ctr"/>
          <a:lstStyle/>
          <a:p>
            <a:pPr marL="0" indent="0">
              <a:buNone/>
            </a:pPr>
            <a:r>
              <a:rPr lang="en-US" sz="1250" dirty="0">
                <a:solidFill>
                  <a:srgbClr val="475569"/>
                </a:solidFill>
                <a:latin typeface="Aptos" pitchFamily="34" charset="0"/>
                <a:ea typeface="Aptos" pitchFamily="34" charset="-122"/>
                <a:cs typeface="Aptos" pitchFamily="34" charset="-120"/>
              </a:rPr>
              <a:t>A step by step guide for onboarding, live demos, product training, and day to day laboratory use.</a:t>
            </a:r>
            <a:endParaRPr lang="en-US" sz="1250" dirty="0"/>
          </a:p>
        </p:txBody>
      </p:sp>
      <p:sp>
        <p:nvSpPr>
          <p:cNvPr id="6" name="Shape 4"/>
          <p:cNvSpPr/>
          <p:nvPr/>
        </p:nvSpPr>
        <p:spPr>
          <a:xfrm>
            <a:off x="7863840" y="1627632"/>
            <a:ext cx="3611880" cy="1828800"/>
          </a:xfrm>
          <a:prstGeom prst="roundRect">
            <a:avLst>
              <a:gd name="adj" fmla="val 2500"/>
            </a:avLst>
          </a:prstGeom>
          <a:solidFill>
            <a:srgbClr val="EFF6FF"/>
          </a:solidFill>
          <a:ln w="12700">
            <a:solidFill>
              <a:srgbClr val="BFDBFE"/>
            </a:solidFill>
            <a:prstDash val="solid"/>
          </a:ln>
        </p:spPr>
      </p:sp>
      <p:sp>
        <p:nvSpPr>
          <p:cNvPr id="7" name="Text 5"/>
          <p:cNvSpPr/>
          <p:nvPr/>
        </p:nvSpPr>
        <p:spPr>
          <a:xfrm>
            <a:off x="7991856" y="1737360"/>
            <a:ext cx="335584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Best Teaching Method</a:t>
            </a:r>
            <a:endParaRPr lang="en-US" sz="1400" dirty="0"/>
          </a:p>
        </p:txBody>
      </p:sp>
      <p:sp>
        <p:nvSpPr>
          <p:cNvPr id="8" name="Text 6"/>
          <p:cNvSpPr/>
          <p:nvPr/>
        </p:nvSpPr>
        <p:spPr>
          <a:xfrm>
            <a:off x="7991856" y="1993392"/>
            <a:ext cx="3355848" cy="137160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Follow one patient from login to report printing. That single story helps new users understand the full system quickly.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What The App Is</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A complete laboratory workflow system.</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r>
              <a:rPr lang="en-US" sz="1600" dirty="0">
                <a:solidFill>
                  <a:srgbClr val="0F172A"/>
                </a:solidFill>
                <a:latin typeface="Aptos" pitchFamily="34" charset="0"/>
                <a:ea typeface="Aptos" pitchFamily="34" charset="-122"/>
                <a:cs typeface="Aptos" pitchFamily="34" charset="-120"/>
              </a:rPr>
              <a:t>TAPXORA LIMS APP helps the laboratory register patients, create orders, track samples, enter results, verify reports, collect payments, and monitor stock.The app is designed for real daily work, not just record storage.Its offline first setup is especially important where internet quality may be unstable.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Who Uses The App</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Each role sees the tools that match the job.</a:t>
            </a:r>
            <a:endParaRPr lang="en-US" sz="1050" dirty="0"/>
          </a:p>
        </p:txBody>
      </p:sp>
      <p:sp>
        <p:nvSpPr>
          <p:cNvPr id="4" name="Shape 2"/>
          <p:cNvSpPr/>
          <p:nvPr/>
        </p:nvSpPr>
        <p:spPr>
          <a:xfrm>
            <a:off x="548640" y="1234440"/>
            <a:ext cx="3566160" cy="1280160"/>
          </a:xfrm>
          <a:prstGeom prst="roundRect">
            <a:avLst>
              <a:gd name="adj" fmla="val 3571"/>
            </a:avLst>
          </a:prstGeom>
          <a:solidFill>
            <a:srgbClr val="EFF6FF"/>
          </a:solidFill>
          <a:ln w="12700">
            <a:solidFill>
              <a:srgbClr val="BFDBFE"/>
            </a:solidFill>
            <a:prstDash val="solid"/>
          </a:ln>
        </p:spPr>
      </p:sp>
      <p:sp>
        <p:nvSpPr>
          <p:cNvPr id="5" name="Text 3"/>
          <p:cNvSpPr/>
          <p:nvPr/>
        </p:nvSpPr>
        <p:spPr>
          <a:xfrm>
            <a:off x="676656" y="1344168"/>
            <a:ext cx="331012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Admin</a:t>
            </a:r>
            <a:endParaRPr lang="en-US" sz="1400" dirty="0"/>
          </a:p>
        </p:txBody>
      </p:sp>
      <p:sp>
        <p:nvSpPr>
          <p:cNvPr id="6" name="Text 4"/>
          <p:cNvSpPr/>
          <p:nvPr/>
        </p:nvSpPr>
        <p:spPr>
          <a:xfrm>
            <a:off x="676656" y="1600200"/>
            <a:ext cx="3310128" cy="82296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Creates tests, assigns roles, reviews audit logs, manages settings, and oversees the whole laboratory workflow.</a:t>
            </a:r>
            <a:endParaRPr lang="en-US" sz="1100" dirty="0"/>
          </a:p>
        </p:txBody>
      </p:sp>
      <p:sp>
        <p:nvSpPr>
          <p:cNvPr id="7" name="Shape 5"/>
          <p:cNvSpPr/>
          <p:nvPr/>
        </p:nvSpPr>
        <p:spPr>
          <a:xfrm>
            <a:off x="4297680" y="1234440"/>
            <a:ext cx="3566160" cy="1280160"/>
          </a:xfrm>
          <a:prstGeom prst="roundRect">
            <a:avLst>
              <a:gd name="adj" fmla="val 3571"/>
            </a:avLst>
          </a:prstGeom>
          <a:solidFill>
            <a:srgbClr val="EFF6FF"/>
          </a:solidFill>
          <a:ln w="12700">
            <a:solidFill>
              <a:srgbClr val="BFDBFE"/>
            </a:solidFill>
            <a:prstDash val="solid"/>
          </a:ln>
        </p:spPr>
      </p:sp>
      <p:sp>
        <p:nvSpPr>
          <p:cNvPr id="8" name="Text 6"/>
          <p:cNvSpPr/>
          <p:nvPr/>
        </p:nvSpPr>
        <p:spPr>
          <a:xfrm>
            <a:off x="4425696" y="1344168"/>
            <a:ext cx="331012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Receptionist</a:t>
            </a:r>
            <a:endParaRPr lang="en-US" sz="1400" dirty="0"/>
          </a:p>
        </p:txBody>
      </p:sp>
      <p:sp>
        <p:nvSpPr>
          <p:cNvPr id="9" name="Text 7"/>
          <p:cNvSpPr/>
          <p:nvPr/>
        </p:nvSpPr>
        <p:spPr>
          <a:xfrm>
            <a:off x="4425696" y="1600200"/>
            <a:ext cx="3310128" cy="82296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Creates patient records, opens lab orders, confirms patient details, and supports front desk registration.</a:t>
            </a:r>
            <a:endParaRPr lang="en-US" sz="1100" dirty="0"/>
          </a:p>
        </p:txBody>
      </p:sp>
      <p:sp>
        <p:nvSpPr>
          <p:cNvPr id="10" name="Shape 8"/>
          <p:cNvSpPr/>
          <p:nvPr/>
        </p:nvSpPr>
        <p:spPr>
          <a:xfrm>
            <a:off x="8046720" y="1234440"/>
            <a:ext cx="3566160" cy="1280160"/>
          </a:xfrm>
          <a:prstGeom prst="roundRect">
            <a:avLst>
              <a:gd name="adj" fmla="val 3571"/>
            </a:avLst>
          </a:prstGeom>
          <a:solidFill>
            <a:srgbClr val="EFF6FF"/>
          </a:solidFill>
          <a:ln w="12700">
            <a:solidFill>
              <a:srgbClr val="BFDBFE"/>
            </a:solidFill>
            <a:prstDash val="solid"/>
          </a:ln>
        </p:spPr>
      </p:sp>
      <p:sp>
        <p:nvSpPr>
          <p:cNvPr id="11" name="Text 9"/>
          <p:cNvSpPr/>
          <p:nvPr/>
        </p:nvSpPr>
        <p:spPr>
          <a:xfrm>
            <a:off x="8174736" y="1344168"/>
            <a:ext cx="331012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Lab Scientist</a:t>
            </a:r>
            <a:endParaRPr lang="en-US" sz="1400" dirty="0"/>
          </a:p>
        </p:txBody>
      </p:sp>
      <p:sp>
        <p:nvSpPr>
          <p:cNvPr id="12" name="Text 10"/>
          <p:cNvSpPr/>
          <p:nvPr/>
        </p:nvSpPr>
        <p:spPr>
          <a:xfrm>
            <a:off x="8174736" y="1600200"/>
            <a:ext cx="3310128" cy="82296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Receives samples, updates sample status, enters test results, and supports stock usage logging.</a:t>
            </a:r>
            <a:endParaRPr lang="en-US" sz="1100" dirty="0"/>
          </a:p>
        </p:txBody>
      </p:sp>
      <p:sp>
        <p:nvSpPr>
          <p:cNvPr id="13" name="Shape 11"/>
          <p:cNvSpPr/>
          <p:nvPr/>
        </p:nvSpPr>
        <p:spPr>
          <a:xfrm>
            <a:off x="2423160" y="2880360"/>
            <a:ext cx="3566160" cy="1280160"/>
          </a:xfrm>
          <a:prstGeom prst="roundRect">
            <a:avLst>
              <a:gd name="adj" fmla="val 3571"/>
            </a:avLst>
          </a:prstGeom>
          <a:solidFill>
            <a:srgbClr val="EFF6FF"/>
          </a:solidFill>
          <a:ln w="12700">
            <a:solidFill>
              <a:srgbClr val="BFDBFE"/>
            </a:solidFill>
            <a:prstDash val="solid"/>
          </a:ln>
        </p:spPr>
      </p:sp>
      <p:sp>
        <p:nvSpPr>
          <p:cNvPr id="14" name="Text 12"/>
          <p:cNvSpPr/>
          <p:nvPr/>
        </p:nvSpPr>
        <p:spPr>
          <a:xfrm>
            <a:off x="2551176" y="2990088"/>
            <a:ext cx="331012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Verifier</a:t>
            </a:r>
            <a:endParaRPr lang="en-US" sz="1400" dirty="0"/>
          </a:p>
        </p:txBody>
      </p:sp>
      <p:sp>
        <p:nvSpPr>
          <p:cNvPr id="15" name="Text 13"/>
          <p:cNvSpPr/>
          <p:nvPr/>
        </p:nvSpPr>
        <p:spPr>
          <a:xfrm>
            <a:off x="2551176" y="3246120"/>
            <a:ext cx="3310128" cy="82296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Checks entered results, confirms they are safe to release, and approves final reports.</a:t>
            </a:r>
            <a:endParaRPr lang="en-US" sz="1100" dirty="0"/>
          </a:p>
        </p:txBody>
      </p:sp>
      <p:sp>
        <p:nvSpPr>
          <p:cNvPr id="16" name="Shape 14"/>
          <p:cNvSpPr/>
          <p:nvPr/>
        </p:nvSpPr>
        <p:spPr>
          <a:xfrm>
            <a:off x="6172200" y="2880360"/>
            <a:ext cx="3566160" cy="1280160"/>
          </a:xfrm>
          <a:prstGeom prst="roundRect">
            <a:avLst>
              <a:gd name="adj" fmla="val 3571"/>
            </a:avLst>
          </a:prstGeom>
          <a:solidFill>
            <a:srgbClr val="EFF6FF"/>
          </a:solidFill>
          <a:ln w="12700">
            <a:solidFill>
              <a:srgbClr val="BFDBFE"/>
            </a:solidFill>
            <a:prstDash val="solid"/>
          </a:ln>
        </p:spPr>
      </p:sp>
      <p:sp>
        <p:nvSpPr>
          <p:cNvPr id="17" name="Text 15"/>
          <p:cNvSpPr/>
          <p:nvPr/>
        </p:nvSpPr>
        <p:spPr>
          <a:xfrm>
            <a:off x="6300216" y="2990088"/>
            <a:ext cx="331012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Accountant</a:t>
            </a:r>
            <a:endParaRPr lang="en-US" sz="1400" dirty="0"/>
          </a:p>
        </p:txBody>
      </p:sp>
      <p:sp>
        <p:nvSpPr>
          <p:cNvPr id="18" name="Text 16"/>
          <p:cNvSpPr/>
          <p:nvPr/>
        </p:nvSpPr>
        <p:spPr>
          <a:xfrm>
            <a:off x="6300216" y="3246120"/>
            <a:ext cx="3310128" cy="82296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Monitors invoices, records payments, prints receipts, and reviews daily revenue summaries.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Login And Registration</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Real screenshots from the live app.</a:t>
            </a:r>
            <a:endParaRPr lang="en-US" sz="1050" dirty="0"/>
          </a:p>
        </p:txBody>
      </p:sp>
      <p:pic>
        <p:nvPicPr>
          <p:cNvPr id="4" name="Image 0" descr="C:\Users\user\Desktop\lab\docs\training-assets\login.png"/>
          <p:cNvPicPr>
            <a:picLocks noChangeAspect="1"/>
          </p:cNvPicPr>
          <p:nvPr/>
        </p:nvPicPr>
        <p:blipFill>
          <a:blip r:embed="rId3"/>
          <a:stretch>
            <a:fillRect/>
          </a:stretch>
        </p:blipFill>
        <p:spPr>
          <a:xfrm>
            <a:off x="502920" y="1188720"/>
            <a:ext cx="5349240" cy="4206240"/>
          </a:xfrm>
          <a:prstGeom prst="rect">
            <a:avLst/>
          </a:prstGeom>
        </p:spPr>
      </p:pic>
      <p:sp>
        <p:nvSpPr>
          <p:cNvPr id="5" name="Text 2"/>
          <p:cNvSpPr/>
          <p:nvPr/>
        </p:nvSpPr>
        <p:spPr>
          <a:xfrm>
            <a:off x="685800" y="5468112"/>
            <a:ext cx="1554480" cy="18288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Login page</a:t>
            </a:r>
            <a:endParaRPr lang="en-US" sz="1000" dirty="0"/>
          </a:p>
        </p:txBody>
      </p:sp>
      <p:pic>
        <p:nvPicPr>
          <p:cNvPr id="6" name="Image 1" descr="C:\Users\user\Desktop\lab\docs\training-assets\register.png"/>
          <p:cNvPicPr>
            <a:picLocks noChangeAspect="1"/>
          </p:cNvPicPr>
          <p:nvPr/>
        </p:nvPicPr>
        <p:blipFill>
          <a:blip r:embed="rId4"/>
          <a:stretch>
            <a:fillRect/>
          </a:stretch>
        </p:blipFill>
        <p:spPr>
          <a:xfrm>
            <a:off x="6217920" y="1188720"/>
            <a:ext cx="5349240" cy="4206240"/>
          </a:xfrm>
          <a:prstGeom prst="rect">
            <a:avLst/>
          </a:prstGeom>
        </p:spPr>
      </p:pic>
      <p:sp>
        <p:nvSpPr>
          <p:cNvPr id="7" name="Text 3"/>
          <p:cNvSpPr/>
          <p:nvPr/>
        </p:nvSpPr>
        <p:spPr>
          <a:xfrm>
            <a:off x="6400800" y="5468112"/>
            <a:ext cx="1828800" cy="18288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Register page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How To Register Users</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Simple steps for new staff access.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Open the Register page and enter full name, email, and password.Create the account or use the magic link option.Open user management or profiles and assign the correct role.Confirm the user belongs to the correct facility.Ask the user to sign in again if a role change was made after login.</a:t>
            </a:r>
            <a:endParaRPr lang="en-US" sz="1600" dirty="0"/>
          </a:p>
        </p:txBody>
      </p:sp>
      <p:sp>
        <p:nvSpPr>
          <p:cNvPr id="5" name="Shape 3"/>
          <p:cNvSpPr/>
          <p:nvPr/>
        </p:nvSpPr>
        <p:spPr>
          <a:xfrm>
            <a:off x="7223760" y="1325880"/>
            <a:ext cx="3931920" cy="1828800"/>
          </a:xfrm>
          <a:prstGeom prst="roundRect">
            <a:avLst>
              <a:gd name="adj" fmla="val 2500"/>
            </a:avLst>
          </a:prstGeom>
          <a:solidFill>
            <a:srgbClr val="EFF6FF"/>
          </a:solidFill>
          <a:ln w="12700">
            <a:solidFill>
              <a:srgbClr val="BFDBFE"/>
            </a:solidFill>
            <a:prstDash val="solid"/>
          </a:ln>
        </p:spPr>
      </p:sp>
      <p:sp>
        <p:nvSpPr>
          <p:cNvPr id="6" name="Text 4"/>
          <p:cNvSpPr/>
          <p:nvPr/>
        </p:nvSpPr>
        <p:spPr>
          <a:xfrm>
            <a:off x="7351776" y="1755648"/>
            <a:ext cx="367588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Training Note</a:t>
            </a:r>
            <a:endParaRPr lang="en-US" sz="1400" dirty="0"/>
          </a:p>
        </p:txBody>
      </p:sp>
      <p:sp>
        <p:nvSpPr>
          <p:cNvPr id="7" name="Text 5"/>
          <p:cNvSpPr/>
          <p:nvPr/>
        </p:nvSpPr>
        <p:spPr>
          <a:xfrm>
            <a:off x="7351776" y="2011680"/>
            <a:ext cx="3675888" cy="137160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Explain that account creation and role assignment are related but not the same. A user can exist before the final role is assigned.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How To Register A Patient</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This is the beginning of the care journey.</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Open Patients and click New Patient.Enter name, phone, sex, date of birth, and address.Add extra information such as notes or emergency contact when available.Tick the NDPR consent checkbox.Save the record and confirm the patient appears in the patient list.</a:t>
            </a:r>
            <a:endParaRPr lang="en-US" sz="1600" dirty="0"/>
          </a:p>
        </p:txBody>
      </p:sp>
      <p:sp>
        <p:nvSpPr>
          <p:cNvPr id="5" name="Shape 3"/>
          <p:cNvSpPr/>
          <p:nvPr/>
        </p:nvSpPr>
        <p:spPr>
          <a:xfrm>
            <a:off x="7132320" y="1322059"/>
            <a:ext cx="3977640" cy="1920240"/>
          </a:xfrm>
          <a:prstGeom prst="roundRect">
            <a:avLst>
              <a:gd name="adj" fmla="val 2381"/>
            </a:avLst>
          </a:prstGeom>
          <a:solidFill>
            <a:srgbClr val="EFF6FF"/>
          </a:solidFill>
          <a:ln w="12700">
            <a:solidFill>
              <a:srgbClr val="BFDBFE"/>
            </a:solidFill>
            <a:prstDash val="solid"/>
          </a:ln>
        </p:spPr>
      </p:sp>
      <p:sp>
        <p:nvSpPr>
          <p:cNvPr id="6" name="Text 4"/>
          <p:cNvSpPr/>
          <p:nvPr/>
        </p:nvSpPr>
        <p:spPr>
          <a:xfrm>
            <a:off x="7260336" y="1755648"/>
            <a:ext cx="372160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Why It Matters</a:t>
            </a:r>
            <a:endParaRPr lang="en-US" sz="1400" dirty="0"/>
          </a:p>
        </p:txBody>
      </p:sp>
      <p:sp>
        <p:nvSpPr>
          <p:cNvPr id="7" name="Text 5"/>
          <p:cNvSpPr/>
          <p:nvPr/>
        </p:nvSpPr>
        <p:spPr>
          <a:xfrm>
            <a:off x="7260336" y="2011680"/>
            <a:ext cx="3721608" cy="146304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If patient identity is entered correctly here, the later sample and result workflow becomes safer and easier.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How To Search Patients And See History</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Useful for returning patients.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r>
              <a:rPr lang="en-US" sz="1600" dirty="0">
                <a:solidFill>
                  <a:srgbClr val="0F172A"/>
                </a:solidFill>
                <a:latin typeface="Aptos" pitchFamily="34" charset="0"/>
                <a:ea typeface="Aptos" pitchFamily="34" charset="-122"/>
                <a:cs typeface="Aptos" pitchFamily="34" charset="-120"/>
              </a:rPr>
              <a:t>Search by patient name, phone number, or lab ID.Open the patient profile to see previous orders.Use patient history to review previous results or repeat investigations.Apply filters when the list becomes large.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Test Catalogue</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The master list of services and prices.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Admins create and edit available tests.Each test includes name, price, result type, and reference range.Active tests appear during order creation.Correct test setup keeps results and billing accurate.</a:t>
            </a:r>
            <a:endParaRPr lang="en-US" sz="1600" dirty="0"/>
          </a:p>
        </p:txBody>
      </p:sp>
      <p:sp>
        <p:nvSpPr>
          <p:cNvPr id="5" name="Shape 3"/>
          <p:cNvSpPr/>
          <p:nvPr/>
        </p:nvSpPr>
        <p:spPr>
          <a:xfrm>
            <a:off x="7269480" y="1554480"/>
            <a:ext cx="3840480" cy="1783080"/>
          </a:xfrm>
          <a:prstGeom prst="roundRect">
            <a:avLst>
              <a:gd name="adj" fmla="val 2564"/>
            </a:avLst>
          </a:prstGeom>
          <a:solidFill>
            <a:srgbClr val="EFF6FF"/>
          </a:solidFill>
          <a:ln w="12700">
            <a:solidFill>
              <a:srgbClr val="BFDBFE"/>
            </a:solidFill>
            <a:prstDash val="solid"/>
          </a:ln>
        </p:spPr>
      </p:sp>
      <p:sp>
        <p:nvSpPr>
          <p:cNvPr id="6" name="Text 4"/>
          <p:cNvSpPr/>
          <p:nvPr/>
        </p:nvSpPr>
        <p:spPr>
          <a:xfrm>
            <a:off x="7397496" y="1664208"/>
            <a:ext cx="358444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Reference Ranges</a:t>
            </a:r>
            <a:endParaRPr lang="en-US" sz="1400" dirty="0"/>
          </a:p>
        </p:txBody>
      </p:sp>
      <p:sp>
        <p:nvSpPr>
          <p:cNvPr id="7" name="Text 5"/>
          <p:cNvSpPr/>
          <p:nvPr/>
        </p:nvSpPr>
        <p:spPr>
          <a:xfrm>
            <a:off x="7397496" y="1920240"/>
            <a:ext cx="3584448" cy="132588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A range may be numeric, such as a minimum and maximum value, or text when the lab uses a written normal range format.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Creating A Lab Order</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This connects the patient to the requested tests.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Open Orders and select the patient.Choose one or more tests from the catalogue.Set priority when needed.Save the order so the system can generate sample work items.</a:t>
            </a:r>
            <a:endParaRPr lang="en-US" sz="1600" dirty="0"/>
          </a:p>
        </p:txBody>
      </p:sp>
      <p:sp>
        <p:nvSpPr>
          <p:cNvPr id="5" name="Shape 3"/>
          <p:cNvSpPr/>
          <p:nvPr/>
        </p:nvSpPr>
        <p:spPr>
          <a:xfrm>
            <a:off x="7315200" y="1645920"/>
            <a:ext cx="3794760" cy="1691640"/>
          </a:xfrm>
          <a:prstGeom prst="roundRect">
            <a:avLst>
              <a:gd name="adj" fmla="val 2703"/>
            </a:avLst>
          </a:prstGeom>
          <a:solidFill>
            <a:srgbClr val="EFF6FF"/>
          </a:solidFill>
          <a:ln w="12700">
            <a:solidFill>
              <a:srgbClr val="BFDBFE"/>
            </a:solidFill>
            <a:prstDash val="solid"/>
          </a:ln>
        </p:spPr>
      </p:sp>
      <p:sp>
        <p:nvSpPr>
          <p:cNvPr id="6" name="Text 4"/>
          <p:cNvSpPr/>
          <p:nvPr/>
        </p:nvSpPr>
        <p:spPr>
          <a:xfrm>
            <a:off x="7443216" y="1755648"/>
            <a:ext cx="353872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What Happens Next</a:t>
            </a:r>
            <a:endParaRPr lang="en-US" sz="1400" dirty="0"/>
          </a:p>
        </p:txBody>
      </p:sp>
      <p:sp>
        <p:nvSpPr>
          <p:cNvPr id="7" name="Text 5"/>
          <p:cNvSpPr/>
          <p:nvPr/>
        </p:nvSpPr>
        <p:spPr>
          <a:xfrm>
            <a:off x="7443216" y="2011680"/>
            <a:ext cx="3538728" cy="123444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Once the order is saved, the app can create barcode or QR labels and prepare the sample tracking workflow.</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Sample Collection, Labeling, And Storage</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One of the most important quality steps.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r>
              <a:rPr lang="en-US" sz="1600" dirty="0">
                <a:solidFill>
                  <a:srgbClr val="0F172A"/>
                </a:solidFill>
                <a:latin typeface="Aptos" pitchFamily="34" charset="0"/>
                <a:ea typeface="Aptos" pitchFamily="34" charset="-122"/>
                <a:cs typeface="Aptos" pitchFamily="34" charset="-120"/>
              </a:rPr>
              <a:t>Print the sample barcode or QR label immediately after the order is created.Attach the label to the correct sample container.Confirm the patient, order, and test match the label.Store the sample in the right location such as tray, rack, fridge, or freezer.Record notes if collection was delayed or unusual.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Sample Reception And Tracking</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Track where the sample is and who handled it.</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Scan the barcode or type the sample code.Confirm the patient and test.Move status through Registered, Collected, In Progress, Results Entered, Verified, and Reported.Use chain of custody logs to review handling history.</a:t>
            </a:r>
            <a:endParaRPr lang="en-US" sz="1600" dirty="0"/>
          </a:p>
        </p:txBody>
      </p:sp>
      <p:sp>
        <p:nvSpPr>
          <p:cNvPr id="5" name="Shape 3"/>
          <p:cNvSpPr/>
          <p:nvPr/>
        </p:nvSpPr>
        <p:spPr>
          <a:xfrm>
            <a:off x="7315200" y="1737360"/>
            <a:ext cx="3749040" cy="1554480"/>
          </a:xfrm>
          <a:prstGeom prst="roundRect">
            <a:avLst>
              <a:gd name="adj" fmla="val 2941"/>
            </a:avLst>
          </a:prstGeom>
          <a:solidFill>
            <a:srgbClr val="EFF6FF"/>
          </a:solidFill>
          <a:ln w="12700">
            <a:solidFill>
              <a:srgbClr val="BFDBFE"/>
            </a:solidFill>
            <a:prstDash val="solid"/>
          </a:ln>
        </p:spPr>
      </p:sp>
      <p:sp>
        <p:nvSpPr>
          <p:cNvPr id="6" name="Text 4"/>
          <p:cNvSpPr/>
          <p:nvPr/>
        </p:nvSpPr>
        <p:spPr>
          <a:xfrm>
            <a:off x="7443216" y="1847088"/>
            <a:ext cx="349300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Why Staff Like This</a:t>
            </a:r>
            <a:endParaRPr lang="en-US" sz="1400" dirty="0"/>
          </a:p>
        </p:txBody>
      </p:sp>
      <p:sp>
        <p:nvSpPr>
          <p:cNvPr id="7" name="Text 5"/>
          <p:cNvSpPr/>
          <p:nvPr/>
        </p:nvSpPr>
        <p:spPr>
          <a:xfrm>
            <a:off x="7443216" y="2103120"/>
            <a:ext cx="3493008" cy="109728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It reduces 'Where is this sample?' confusion and helps the dashboard show real progress.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Results Entry</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Different tests can use different result forms.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Open the result queue and choose the right sample.Enter the result using the test's configured type: numeric, text, dropdown, or positive or negative.Review abnormal flags created from the reference range.Save the result for verification.</a:t>
            </a:r>
            <a:endParaRPr lang="en-US" sz="1600" dirty="0"/>
          </a:p>
        </p:txBody>
      </p:sp>
      <p:sp>
        <p:nvSpPr>
          <p:cNvPr id="5" name="Shape 3"/>
          <p:cNvSpPr/>
          <p:nvPr/>
        </p:nvSpPr>
        <p:spPr>
          <a:xfrm>
            <a:off x="7406640" y="1645920"/>
            <a:ext cx="3657600" cy="1463040"/>
          </a:xfrm>
          <a:prstGeom prst="roundRect">
            <a:avLst>
              <a:gd name="adj" fmla="val 3125"/>
            </a:avLst>
          </a:prstGeom>
          <a:solidFill>
            <a:srgbClr val="EFF6FF"/>
          </a:solidFill>
          <a:ln w="12700">
            <a:solidFill>
              <a:srgbClr val="BFDBFE"/>
            </a:solidFill>
            <a:prstDash val="solid"/>
          </a:ln>
        </p:spPr>
      </p:sp>
      <p:sp>
        <p:nvSpPr>
          <p:cNvPr id="6" name="Text 4"/>
          <p:cNvSpPr/>
          <p:nvPr/>
        </p:nvSpPr>
        <p:spPr>
          <a:xfrm>
            <a:off x="7534656" y="1755648"/>
            <a:ext cx="340156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Safety Reminder</a:t>
            </a:r>
            <a:endParaRPr lang="en-US" sz="1400" dirty="0"/>
          </a:p>
        </p:txBody>
      </p:sp>
      <p:sp>
        <p:nvSpPr>
          <p:cNvPr id="7" name="Text 5"/>
          <p:cNvSpPr/>
          <p:nvPr/>
        </p:nvSpPr>
        <p:spPr>
          <a:xfrm>
            <a:off x="7534656" y="2011680"/>
            <a:ext cx="3401568" cy="100584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Always confirm the patient and sample code before typing the result value.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Result Verification And Report Printing</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A two step process for safer reporting.</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r>
              <a:rPr lang="en-US" sz="1600" dirty="0">
                <a:solidFill>
                  <a:srgbClr val="0F172A"/>
                </a:solidFill>
                <a:latin typeface="Aptos" pitchFamily="34" charset="0"/>
                <a:ea typeface="Aptos" pitchFamily="34" charset="-122"/>
                <a:cs typeface="Aptos" pitchFamily="34" charset="-120"/>
              </a:rPr>
              <a:t>Open the verification queue and review the entered result.Check values, comments, patient identity, and flags.Approve the result if correct, or return it for correction if needed.Open Reports and print or download the professional PDF report.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Billing And Receipts</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The business side of the laboratory.</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Invoices are created from the prices of the ordered tests.Payment status can be unpaid, partial, or paid.Record payment amount and method.Print or download the receipt after payment.</a:t>
            </a:r>
            <a:endParaRPr lang="en-US" sz="1600" dirty="0"/>
          </a:p>
        </p:txBody>
      </p:sp>
      <p:sp>
        <p:nvSpPr>
          <p:cNvPr id="5" name="Shape 3"/>
          <p:cNvSpPr/>
          <p:nvPr/>
        </p:nvSpPr>
        <p:spPr>
          <a:xfrm>
            <a:off x="7315200" y="1737360"/>
            <a:ext cx="3794760" cy="1554480"/>
          </a:xfrm>
          <a:prstGeom prst="roundRect">
            <a:avLst>
              <a:gd name="adj" fmla="val 2941"/>
            </a:avLst>
          </a:prstGeom>
          <a:solidFill>
            <a:srgbClr val="EFF6FF"/>
          </a:solidFill>
          <a:ln w="12700">
            <a:solidFill>
              <a:srgbClr val="BFDBFE"/>
            </a:solidFill>
            <a:prstDash val="solid"/>
          </a:ln>
        </p:spPr>
      </p:sp>
      <p:sp>
        <p:nvSpPr>
          <p:cNvPr id="6" name="Text 4"/>
          <p:cNvSpPr/>
          <p:nvPr/>
        </p:nvSpPr>
        <p:spPr>
          <a:xfrm>
            <a:off x="7443216" y="1847088"/>
            <a:ext cx="353872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Manager Benefit</a:t>
            </a:r>
            <a:endParaRPr lang="en-US" sz="1400" dirty="0"/>
          </a:p>
        </p:txBody>
      </p:sp>
      <p:sp>
        <p:nvSpPr>
          <p:cNvPr id="7" name="Text 5"/>
          <p:cNvSpPr/>
          <p:nvPr/>
        </p:nvSpPr>
        <p:spPr>
          <a:xfrm>
            <a:off x="7443216" y="2103120"/>
            <a:ext cx="3538728" cy="109728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Revenue summaries help the lab see daily financial performance without manual calculation.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Inventory Management</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Track reagents, consumables, and expiry risks.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r>
              <a:rPr lang="en-US" sz="1600" dirty="0">
                <a:solidFill>
                  <a:srgbClr val="0F172A"/>
                </a:solidFill>
                <a:latin typeface="Aptos" pitchFamily="34" charset="0"/>
                <a:ea typeface="Aptos" pitchFamily="34" charset="-122"/>
                <a:cs typeface="Aptos" pitchFamily="34" charset="-120"/>
              </a:rPr>
              <a:t>Create inventory items and set quantity, lot number, expiry date, and reorder level.Record stock in and stock out transactions.Watch low stock and near expiry alerts.Use this module to reduce interruptions during daily lab work.</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Dashboards, Audit Logs, And Offline Work</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Control, visibility, and continuity.</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r>
              <a:rPr lang="en-US" sz="1600" dirty="0">
                <a:solidFill>
                  <a:srgbClr val="0F172A"/>
                </a:solidFill>
                <a:latin typeface="Aptos" pitchFamily="34" charset="0"/>
                <a:ea typeface="Aptos" pitchFamily="34" charset="-122"/>
                <a:cs typeface="Aptos" pitchFamily="34" charset="-120"/>
              </a:rPr>
              <a:t>Dashboards show today's worklist, turnaround time, test trends, revenue, and alerts.Audit logs let admins review who changed what and when.Offline support lets staff continue working during weak internet and sync later.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Recommended Live Demo Flow</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A short script for training sessions.</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r>
              <a:rPr lang="en-US" sz="1600" dirty="0">
                <a:solidFill>
                  <a:srgbClr val="0F172A"/>
                </a:solidFill>
                <a:latin typeface="Aptos" pitchFamily="34" charset="0"/>
                <a:ea typeface="Aptos" pitchFamily="34" charset="-122"/>
                <a:cs typeface="Aptos" pitchFamily="34" charset="-120"/>
              </a:rPr>
              <a:t>Show login and registration.Explain the user roles.Register one patient.Create one order with two tests.Show the sample label and storage explanation.Enter one result, verify it, and print the report.Record a payment and show the dashboard and inventory alerts.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BFF"/>
        </a:solidFill>
        <a:effectLst/>
      </p:bgPr>
    </p:bg>
    <p:spTree>
      <p:nvGrpSpPr>
        <p:cNvPr id="1" name=""/>
        <p:cNvGrpSpPr/>
        <p:nvPr/>
      </p:nvGrpSpPr>
      <p:grpSpPr>
        <a:xfrm>
          <a:off x="0" y="0"/>
          <a:ext cx="0" cy="0"/>
          <a:chOff x="0" y="0"/>
          <a:chExt cx="0" cy="0"/>
        </a:xfrm>
      </p:grpSpPr>
      <p:sp>
        <p:nvSpPr>
          <p:cNvPr id="2" name="Text 0"/>
          <p:cNvSpPr/>
          <p:nvPr/>
        </p:nvSpPr>
        <p:spPr>
          <a:xfrm>
            <a:off x="457200" y="274320"/>
            <a:ext cx="10789920" cy="411480"/>
          </a:xfrm>
          <a:prstGeom prst="rect">
            <a:avLst/>
          </a:prstGeom>
          <a:noFill/>
          <a:ln/>
        </p:spPr>
        <p:txBody>
          <a:bodyPr wrap="square"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Simple Summary</a:t>
            </a:r>
            <a:endParaRPr lang="en-US" sz="2300" dirty="0"/>
          </a:p>
        </p:txBody>
      </p:sp>
      <p:sp>
        <p:nvSpPr>
          <p:cNvPr id="3" name="Text 1"/>
          <p:cNvSpPr/>
          <p:nvPr/>
        </p:nvSpPr>
        <p:spPr>
          <a:xfrm>
            <a:off x="457200" y="713232"/>
            <a:ext cx="10972800" cy="274320"/>
          </a:xfrm>
          <a:prstGeom prst="rect">
            <a:avLst/>
          </a:prstGeom>
          <a:noFill/>
          <a:ln/>
        </p:spPr>
        <p:txBody>
          <a:bodyPr wrap="square" rtlCol="0" anchor="ctr"/>
          <a:lstStyle/>
          <a:p>
            <a:pPr marL="0" indent="0">
              <a:buNone/>
            </a:pPr>
            <a:r>
              <a:rPr lang="en-US" sz="1050" dirty="0">
                <a:solidFill>
                  <a:srgbClr val="475569"/>
                </a:solidFill>
                <a:latin typeface="Aptos" pitchFamily="34" charset="0"/>
                <a:ea typeface="Aptos" pitchFamily="34" charset="-122"/>
                <a:cs typeface="Aptos" pitchFamily="34" charset="-120"/>
              </a:rPr>
              <a:t>The app helps the lab stay organized.</a:t>
            </a:r>
            <a:endParaRPr lang="en-US" sz="1050" dirty="0"/>
          </a:p>
        </p:txBody>
      </p:sp>
      <p:sp>
        <p:nvSpPr>
          <p:cNvPr id="4" name="Text 2"/>
          <p:cNvSpPr/>
          <p:nvPr/>
        </p:nvSpPr>
        <p:spPr>
          <a:xfrm>
            <a:off x="731520" y="1325880"/>
            <a:ext cx="10424160" cy="4389120"/>
          </a:xfrm>
          <a:prstGeom prst="rect">
            <a:avLst/>
          </a:prstGeom>
          <a:noFill/>
          <a:ln/>
        </p:spPr>
        <p:txBody>
          <a:bodyPr wrap="square" rtlCol="0" anchor="ctr"/>
          <a:lstStyle/>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endParaRPr lang="en-US" sz="1600" dirty="0">
              <a:solidFill>
                <a:srgbClr val="0F172A"/>
              </a:solidFill>
              <a:latin typeface="Aptos" pitchFamily="34" charset="0"/>
              <a:ea typeface="Aptos" pitchFamily="34" charset="-122"/>
              <a:cs typeface="Aptos" pitchFamily="34" charset="-120"/>
            </a:endParaRPr>
          </a:p>
          <a:p>
            <a:pPr marL="203200" indent="-203200">
              <a:buSzPct val="100000"/>
              <a:buChar char="•"/>
            </a:pPr>
            <a:r>
              <a:rPr lang="en-US" sz="1600" dirty="0">
                <a:solidFill>
                  <a:srgbClr val="0F172A"/>
                </a:solidFill>
                <a:latin typeface="Aptos" pitchFamily="34" charset="0"/>
                <a:ea typeface="Aptos" pitchFamily="34" charset="-122"/>
                <a:cs typeface="Aptos" pitchFamily="34" charset="-120"/>
              </a:rPr>
              <a:t>It helps the lab know who the patient is.It helps the lab know what test was requested.It helps the lab know where the sample is.It helps the lab know what result was entered and whether it was checked.It helps the lab know whether payment and stock records are complete.</a:t>
            </a:r>
            <a:endParaRPr lang="en-US" sz="1600" dirty="0"/>
          </a:p>
        </p:txBody>
      </p:sp>
      <p:sp>
        <p:nvSpPr>
          <p:cNvPr id="5" name="Shape 3"/>
          <p:cNvSpPr/>
          <p:nvPr/>
        </p:nvSpPr>
        <p:spPr>
          <a:xfrm>
            <a:off x="7178040" y="1645920"/>
            <a:ext cx="3840480" cy="1828800"/>
          </a:xfrm>
          <a:prstGeom prst="roundRect">
            <a:avLst>
              <a:gd name="adj" fmla="val 2500"/>
            </a:avLst>
          </a:prstGeom>
          <a:solidFill>
            <a:srgbClr val="EFF6FF"/>
          </a:solidFill>
          <a:ln w="12700">
            <a:solidFill>
              <a:srgbClr val="BFDBFE"/>
            </a:solidFill>
            <a:prstDash val="solid"/>
          </a:ln>
        </p:spPr>
      </p:sp>
      <p:sp>
        <p:nvSpPr>
          <p:cNvPr id="6" name="Text 4"/>
          <p:cNvSpPr/>
          <p:nvPr/>
        </p:nvSpPr>
        <p:spPr>
          <a:xfrm>
            <a:off x="7306056" y="1755648"/>
            <a:ext cx="3584448" cy="219456"/>
          </a:xfrm>
          <a:prstGeom prst="rect">
            <a:avLst/>
          </a:prstGeom>
          <a:noFill/>
          <a:ln/>
        </p:spPr>
        <p:txBody>
          <a:bodyPr wrap="square" rtlCol="0" anchor="ctr"/>
          <a:lstStyle/>
          <a:p>
            <a:pPr marL="0" indent="0">
              <a:buNone/>
            </a:pPr>
            <a:r>
              <a:rPr lang="en-US" sz="1400" b="1" dirty="0">
                <a:solidFill>
                  <a:srgbClr val="1D4ED8"/>
                </a:solidFill>
                <a:latin typeface="Aptos Display" pitchFamily="34" charset="0"/>
                <a:ea typeface="Aptos Display" pitchFamily="34" charset="-122"/>
                <a:cs typeface="Aptos Display" pitchFamily="34" charset="-120"/>
              </a:rPr>
              <a:t>Child Friendly Explanation</a:t>
            </a:r>
            <a:endParaRPr lang="en-US" sz="1400" dirty="0"/>
          </a:p>
        </p:txBody>
      </p:sp>
      <p:sp>
        <p:nvSpPr>
          <p:cNvPr id="7" name="Text 5"/>
          <p:cNvSpPr/>
          <p:nvPr/>
        </p:nvSpPr>
        <p:spPr>
          <a:xfrm>
            <a:off x="7306056" y="2011680"/>
            <a:ext cx="3584448" cy="1371600"/>
          </a:xfrm>
          <a:prstGeom prst="rect">
            <a:avLst/>
          </a:prstGeom>
          <a:noFill/>
          <a:ln/>
        </p:spPr>
        <p:txBody>
          <a:bodyPr wrap="square" rtlCol="0" anchor="ctr"/>
          <a:lstStyle/>
          <a:p>
            <a:pPr marL="0" indent="0">
              <a:buNone/>
            </a:pPr>
            <a:r>
              <a:rPr lang="en-US" sz="1100" dirty="0">
                <a:solidFill>
                  <a:srgbClr val="0F172A"/>
                </a:solidFill>
                <a:latin typeface="Aptos" pitchFamily="34" charset="0"/>
                <a:ea typeface="Aptos" pitchFamily="34" charset="-122"/>
                <a:cs typeface="Aptos" pitchFamily="34" charset="-120"/>
              </a:rPr>
              <a:t>A patient comes in. The lab writes the details, takes the sample, checks the result, prints the answer, and keeps the work organized from start to finish.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1262</Words>
  <Application>Microsoft Office PowerPoint</Application>
  <PresentationFormat>Widescreen</PresentationFormat>
  <Paragraphs>121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TAPXORA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TAPXORA LIMS APP Training Guide</dc:title>
  <dc:subject>TAPXORA LIMS APP detailed training deck</dc:subject>
  <dc:creator>OpenAI Codex</dc:creator>
  <cp:lastModifiedBy>obinna vitalis</cp:lastModifiedBy>
  <cp:revision>3</cp:revision>
  <dcterms:created xsi:type="dcterms:W3CDTF">2026-06-12T09:27:03Z</dcterms:created>
  <dcterms:modified xsi:type="dcterms:W3CDTF">2026-06-12T09:40:04Z</dcterms:modified>
</cp:coreProperties>
</file>